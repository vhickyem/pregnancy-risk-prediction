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2226-8637-782B-9710-8C25FCECE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46B7E-8B36-64D0-3A1A-4C45A970F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385BE-73A6-24DD-0AB3-4375E470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3D7A0-F13D-6B50-CBAA-521F8C1D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BFE8F-F474-08DC-E8EC-7B2FDA83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96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254A-9591-82DC-8569-0AC4B7A9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54472-3B72-1149-A2C0-16F495DA6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1F92C-FFE7-7EE4-86FB-5B607F15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6AC04-2EF5-8524-1A36-823D73D61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9386F-740D-41E9-8E5E-D2CC50E8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F8D5-24BC-1F7D-D0DC-90D8D958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034B-6D08-8083-DE33-DFA0CB912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8E360-ECB3-83A5-D4D6-ECA999C4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68316-A705-129F-A1A7-43EC86AF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50977-0BED-7F14-BBB0-A0B6421A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2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E3DC-D2A7-4292-5D65-93FA5CA4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7762D-8B45-DAA1-AEDB-56EA36C75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1DCE6-B0A5-260A-7B63-F34836E81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0D990-F921-C1C8-563D-C5364F9F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EBEC4-4697-6243-64EB-063BCD94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366B1-D268-61B8-2ABF-BD287AEB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8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61CE-A317-9600-FDFF-6BEEB33D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1020-E76A-6AD8-4DD9-05F97F47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35D43-F4B2-43E8-819B-EF63DE66B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852EF-11FB-D93D-9F0B-519C25726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27E96-DB16-9C5A-455C-482214509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A93EE-F371-3DB4-F524-C31EBD50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44AF9-6815-1C22-8E3F-D0B4CCDF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AAE84-4E81-C710-EC40-EB5A66C1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0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3FAEA-5DFA-D5EE-7BAD-652ED622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597A3-53C9-ABE2-27A3-077890BA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3AECB-9F36-3C8E-1DDF-534EB26C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CB734-1B58-3D45-CE94-A91C9C87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5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FC333-3515-0FA3-775C-286F5C05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99048-85DF-3713-2CCD-4FF10884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A9872-DE2B-C496-E9B9-31FB0E16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66C4-5B19-3F30-3C00-17A8571A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9925-0914-05CC-65B6-8614037C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A74D6-E1AA-E18E-E5AF-BE0B6A2AF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7A7DB-6DAE-A4EA-E21A-43C8474E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C52C3-BE53-23D6-2F4A-F0B1CAEC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BE842-F66B-5178-C8E4-72F3F3BF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0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368C-DFBA-0E0D-8592-8C5F01D47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851CB-2937-F5FC-3B48-F6E611F95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9147A-FBE8-90D7-C181-C32FE9845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A1D67-6372-1FBF-9831-B4B5B04D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6CE89-B911-4795-F6B1-EC33CBE20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15A0B-D2D4-E109-5BDF-547C79E6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7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FC346-4E06-B250-F2A6-219DD334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A641C-8631-35AD-A898-DDF9BDC05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03DC4-2B84-DA24-2E83-02C47E0D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26B26-1061-4C75-1AC7-2DA077BF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EBE76-188F-8AE3-0F91-E3846266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69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5D060-9CB3-A5B6-6D31-42E75774B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AEE2D-B0ED-86C4-D86D-CC727C178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19277-9179-8C7B-0EF5-10386B2B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43BCC-A0FE-B79D-9F3A-5D5B796B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CCBC4-3988-AB54-61E2-B95C42F8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0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A2310-BF00-EE36-F32B-E71A9221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3CA87-F718-F1B0-8149-437AF1E9E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6D6D9-054E-ED82-C22C-65C464273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A4CE9-37DC-4745-B9DD-075E63404DAD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C349-6F3A-800A-A4C7-4AB158D57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7EE7D-E930-2917-E718-A0D05FCB1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488D3-F10C-451B-B265-791C8B65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7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67B15-2497-4892-F23E-8CFA06F80F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of Factors contributing to a High-Risk Pregnancy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4012B-CF1B-D1AE-C0A4-C212C7F26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Exploratory Data Analysis</a:t>
            </a:r>
          </a:p>
          <a:p>
            <a:r>
              <a:rPr lang="en-US" dirty="0"/>
              <a:t>Oloyede, Olayemi Victoria</a:t>
            </a:r>
          </a:p>
          <a:p>
            <a:r>
              <a:rPr lang="en-US" dirty="0"/>
              <a:t>24</a:t>
            </a:r>
            <a:r>
              <a:rPr lang="en-US" baseline="30000" dirty="0"/>
              <a:t>th</a:t>
            </a:r>
            <a:r>
              <a:rPr lang="en-US" dirty="0"/>
              <a:t> June, 2025</a:t>
            </a:r>
          </a:p>
        </p:txBody>
      </p:sp>
    </p:spTree>
    <p:extLst>
      <p:ext uri="{BB962C8B-B14F-4D97-AF65-F5344CB8AC3E}">
        <p14:creationId xmlns:p14="http://schemas.microsoft.com/office/powerpoint/2010/main" val="328015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6A46-24C7-46A3-8FAD-4DB1C382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FA23-A952-FE35-C1CC-816A1897E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High-risk pregnancies present significant challenges for maternal and infant health. Currently, Identification often occurs later in the gestation period, and thus limits quick intervention.</a:t>
            </a:r>
          </a:p>
          <a:p>
            <a:pPr marL="0" indent="0">
              <a:buNone/>
            </a:pPr>
            <a:r>
              <a:rPr lang="en-US" dirty="0"/>
              <a:t>This Exploratory Data Analysis (EDA) aims to identify early demographic and medical factors that can indicate a high-risk pregnancy, ideally before 20 weeks.</a:t>
            </a:r>
          </a:p>
          <a:p>
            <a:pPr marL="0" indent="0">
              <a:buNone/>
            </a:pPr>
            <a:r>
              <a:rPr lang="en-US" dirty="0"/>
              <a:t>The goal is to build a foundation for an early assessment system, which will enable quick and proactive identification, thereby allowing for a tailored care plan, especially in Primary Healthcare Centers (PHCs), to improve patient outcomes and optimize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2096099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7ADB-AC71-5EEB-E9DE-8EA40E25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02655-ED74-CB48-8184-5C50A9A52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Objectives</a:t>
            </a:r>
          </a:p>
          <a:p>
            <a:r>
              <a:rPr lang="en-US" dirty="0"/>
              <a:t>To identify key factors associated with high-risk pregnancies.</a:t>
            </a:r>
          </a:p>
          <a:p>
            <a:r>
              <a:rPr lang="en-US" dirty="0"/>
              <a:t>To understand the distribution and relationship of these factors.</a:t>
            </a:r>
          </a:p>
          <a:p>
            <a:r>
              <a:rPr lang="en-US" dirty="0"/>
              <a:t>To inform potential interventions or further research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Source</a:t>
            </a:r>
          </a:p>
          <a:p>
            <a:pPr marL="0" indent="0">
              <a:buNone/>
            </a:pPr>
            <a:r>
              <a:rPr lang="en-US" dirty="0"/>
              <a:t>Data is gotten from anonymized patient records of pregnant women, from a general hospital in Bangladesh, India, and it includes 1,205 patient records.</a:t>
            </a:r>
          </a:p>
        </p:txBody>
      </p:sp>
    </p:spTree>
    <p:extLst>
      <p:ext uri="{BB962C8B-B14F-4D97-AF65-F5344CB8AC3E}">
        <p14:creationId xmlns:p14="http://schemas.microsoft.com/office/powerpoint/2010/main" val="351923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80E9-0C64-2529-3F35-F79EC829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Overview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C0F00-A92A-C08F-3166-E82B7F74A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Description</a:t>
            </a:r>
          </a:p>
          <a:p>
            <a:pPr marL="0" indent="0">
              <a:buNone/>
            </a:pPr>
            <a:r>
              <a:rPr lang="en-US" dirty="0"/>
              <a:t>Variables recorded and included in the dataset includes Patient’s demographic factors, clinical parameters, their medical history or pre-existing conditions, and the outcome variable which states whether the pregnancy is high-risk or low-risk. Overall, there are 5 categorical columns and 6 numerical variables.</a:t>
            </a:r>
          </a:p>
          <a:p>
            <a:pPr marL="0" indent="0">
              <a:buNone/>
            </a:pPr>
            <a:r>
              <a:rPr lang="en-US" dirty="0"/>
              <a:t>Data Cleaning Steps</a:t>
            </a:r>
          </a:p>
          <a:p>
            <a:r>
              <a:rPr lang="en-US" dirty="0"/>
              <a:t>All Null values were removed, as they were only about 2% of the data</a:t>
            </a:r>
          </a:p>
          <a:p>
            <a:r>
              <a:rPr lang="en-US" dirty="0"/>
              <a:t>Invalid values, like Age=325 years and BMI &lt; 6.7 were removed.</a:t>
            </a:r>
          </a:p>
          <a:p>
            <a:r>
              <a:rPr lang="en-US" dirty="0"/>
              <a:t>Outliers are clinically valid, and so were not dropped</a:t>
            </a:r>
          </a:p>
        </p:txBody>
      </p:sp>
    </p:spTree>
    <p:extLst>
      <p:ext uri="{BB962C8B-B14F-4D97-AF65-F5344CB8AC3E}">
        <p14:creationId xmlns:p14="http://schemas.microsoft.com/office/powerpoint/2010/main" val="378980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028F-6BF0-26EF-D877-0247A6656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4660"/>
          </a:xfrm>
        </p:spPr>
        <p:txBody>
          <a:bodyPr/>
          <a:lstStyle/>
          <a:p>
            <a:r>
              <a:rPr lang="en-US" dirty="0"/>
              <a:t>Target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C857D-3E61-E8B8-47B6-A1CF073EE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0437"/>
            <a:ext cx="5485598" cy="3876525"/>
          </a:xfrm>
        </p:spPr>
        <p:txBody>
          <a:bodyPr/>
          <a:lstStyle/>
          <a:p>
            <a:r>
              <a:rPr lang="en-US" dirty="0"/>
              <a:t>Data is imbalanced, almost int the ratio 6:4.</a:t>
            </a:r>
          </a:p>
          <a:p>
            <a:r>
              <a:rPr lang="en-US" dirty="0"/>
              <a:t>Most of the pregnant patients, had low-risk pregnancy</a:t>
            </a:r>
          </a:p>
          <a:p>
            <a:r>
              <a:rPr lang="en-US" dirty="0"/>
              <a:t>Although lower than the other group, there are still many patients with a pregnancy, classified as high-risk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D07F1D-844F-B19B-8786-5DB0473B8611}"/>
              </a:ext>
            </a:extLst>
          </p:cNvPr>
          <p:cNvSpPr txBox="1">
            <a:spLocks/>
          </p:cNvSpPr>
          <p:nvPr/>
        </p:nvSpPr>
        <p:spPr>
          <a:xfrm>
            <a:off x="990600" y="1395663"/>
            <a:ext cx="5333198" cy="447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Findings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9082E-D0CA-33C4-D604-784319C05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177" y="2271167"/>
            <a:ext cx="4639322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06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0591-68DA-7172-98FC-9D466C8D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Categorical Analysis</a:t>
            </a:r>
          </a:p>
        </p:txBody>
      </p:sp>
    </p:spTree>
    <p:extLst>
      <p:ext uri="{BB962C8B-B14F-4D97-AF65-F5344CB8AC3E}">
        <p14:creationId xmlns:p14="http://schemas.microsoft.com/office/powerpoint/2010/main" val="25869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8843-B3B0-F767-595F-640C8687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943123" cy="1078664"/>
          </a:xfrm>
        </p:spPr>
        <p:txBody>
          <a:bodyPr/>
          <a:lstStyle/>
          <a:p>
            <a:pPr algn="ctr"/>
            <a:r>
              <a:rPr lang="en-US" dirty="0"/>
              <a:t>Univariate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774128-4DB0-3619-6ECB-0C0D5891E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434" y="1838426"/>
            <a:ext cx="6066888" cy="453349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B6EBB2D-721F-8210-FED3-DB6C0C2F8D31}"/>
              </a:ext>
            </a:extLst>
          </p:cNvPr>
          <p:cNvSpPr txBox="1">
            <a:spLocks/>
          </p:cNvSpPr>
          <p:nvPr/>
        </p:nvSpPr>
        <p:spPr>
          <a:xfrm>
            <a:off x="162827" y="1606301"/>
            <a:ext cx="3186766" cy="464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Findings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11F861-8E74-A5AB-B859-409993EC24C7}"/>
              </a:ext>
            </a:extLst>
          </p:cNvPr>
          <p:cNvSpPr txBox="1"/>
          <p:nvPr/>
        </p:nvSpPr>
        <p:spPr>
          <a:xfrm>
            <a:off x="279133" y="2165684"/>
            <a:ext cx="52265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these charts, it should be noted that ‘0’ stands for ‘No’, and ‘1’ stands for ‘Yes’.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Those with the each of the conditions, i.e., previous complications, preexisting diabetes, gestational diabetes and mental health issues, are more than those who do not have.</a:t>
            </a:r>
          </a:p>
        </p:txBody>
      </p:sp>
    </p:spTree>
    <p:extLst>
      <p:ext uri="{BB962C8B-B14F-4D97-AF65-F5344CB8AC3E}">
        <p14:creationId xmlns:p14="http://schemas.microsoft.com/office/powerpoint/2010/main" val="1117849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480D-78DA-C9D7-5C72-F92FE2FF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Health Conditions vs. Risk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6C786-FB3C-D32C-769F-8318850A6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9"/>
            <a:ext cx="5370095" cy="4276792"/>
          </a:xfrm>
        </p:spPr>
        <p:txBody>
          <a:bodyPr>
            <a:normAutofit fontScale="92500"/>
          </a:bodyPr>
          <a:lstStyle/>
          <a:p>
            <a:r>
              <a:rPr lang="en-US" dirty="0"/>
              <a:t>Mental Health Issues and Preexisting Diabetes are significantly more prevalent in High-Risk pregnancies (70% and 67% respectively).</a:t>
            </a:r>
          </a:p>
          <a:p>
            <a:r>
              <a:rPr lang="en-US" dirty="0"/>
              <a:t>For Previous Complications and Gestational Diabetes, majority of the high-risk cases do not show a prior history of these conditions.</a:t>
            </a:r>
          </a:p>
          <a:p>
            <a:r>
              <a:rPr lang="en-US" dirty="0"/>
              <a:t>All analyzed conditions, consistently show a very low prevalence in Low-Risk pregnancies.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951182-F42F-890A-5757-A5DA5C94A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39" y="1690688"/>
            <a:ext cx="5728097" cy="427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5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C4A7-DD07-E4B2-372D-4B2E0B37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Conditions Comparison for High-Risk Pregnancies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8BE04-A5C0-C129-A486-2F305F581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08372"/>
            <a:ext cx="10515600" cy="236781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Analysis reveals that mental health issues and preexisting diabetes are early indicators of a high-risk pregnancy. </a:t>
            </a:r>
          </a:p>
          <a:p>
            <a:r>
              <a:rPr lang="en-US" dirty="0"/>
              <a:t>Mental health challenges are extremely common, affecting 74% of those without pre-existing diabetes and 68% of those with it. Also, mental health issues are notably higher in those with previous complications (80%), than those who haven’t (62%).</a:t>
            </a:r>
          </a:p>
          <a:p>
            <a:r>
              <a:rPr lang="en-US" dirty="0"/>
              <a:t>Another insight gotten here is one that also shows preexisting diabetes to be a key factor, as it’s present in majority of high-risk cases without prior complications (70%) and in 67% of those recorded with it.</a:t>
            </a:r>
          </a:p>
          <a:p>
            <a:r>
              <a:rPr lang="en-US" dirty="0"/>
              <a:t>As we’re aiming for early risk assessment, gestational diabetes was removed, since it’s usually diagnosed after 20 weeks of gestation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DBAD6-1322-DEBA-E561-6CEF4FD11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9"/>
            <a:ext cx="10318282" cy="259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38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0591-68DA-7172-98FC-9D466C8D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Numerical Analysis</a:t>
            </a:r>
          </a:p>
        </p:txBody>
      </p:sp>
    </p:spTree>
    <p:extLst>
      <p:ext uri="{BB962C8B-B14F-4D97-AF65-F5344CB8AC3E}">
        <p14:creationId xmlns:p14="http://schemas.microsoft.com/office/powerpoint/2010/main" val="2710659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8CD8-A97F-3793-ED29-F9DD89401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661"/>
            <a:ext cx="3483543" cy="905410"/>
          </a:xfrm>
        </p:spPr>
        <p:txBody>
          <a:bodyPr/>
          <a:lstStyle/>
          <a:p>
            <a:r>
              <a:rPr lang="en-US" dirty="0"/>
              <a:t>Age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4495CF-3B2C-478D-F14F-F27A0F58E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066" y="218661"/>
            <a:ext cx="4317734" cy="294405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674AC5-BBE2-0F3F-43FD-5297C63F2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066" y="3162715"/>
            <a:ext cx="4317733" cy="35557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AA4612-BEB4-EB40-E816-C1A9C14CACF3}"/>
              </a:ext>
            </a:extLst>
          </p:cNvPr>
          <p:cNvSpPr txBox="1"/>
          <p:nvPr/>
        </p:nvSpPr>
        <p:spPr>
          <a:xfrm>
            <a:off x="885523" y="1124071"/>
            <a:ext cx="479338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Distribution: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KDE plot here, shows that although high-risk pregnancies are more common overall, high-risk pregnancies become more dominant from around the age 35 onward</a:t>
            </a:r>
          </a:p>
          <a:p>
            <a:r>
              <a:rPr lang="en-US" dirty="0"/>
              <a:t>Age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further analyze this, the Age values were grouped, based on medical guidelines, into Adolescence (&lt;20), Early reproductive age (20-34 years), Advanced Maternal age (35-49 years), and Postmenopausal age (50+ years)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could be seen, that for Adolescent and Reproductive ages, which is up to 34years, there are more low-risk pregnancies than high-risk ones, but from the advanced age onward, there are more high-risk pregnancies, further establishing what was seen in the KDE plot.</a:t>
            </a:r>
          </a:p>
        </p:txBody>
      </p:sp>
    </p:spTree>
    <p:extLst>
      <p:ext uri="{BB962C8B-B14F-4D97-AF65-F5344CB8AC3E}">
        <p14:creationId xmlns:p14="http://schemas.microsoft.com/office/powerpoint/2010/main" val="815811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AAFE-0EB1-8223-5FF8-7B81D232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Blood Pressure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506B1-456B-73DC-C534-798D4371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2471"/>
            <a:ext cx="10515600" cy="264449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Distribution:</a:t>
            </a:r>
          </a:p>
          <a:p>
            <a:pPr marL="0" indent="0">
              <a:buNone/>
            </a:pPr>
            <a:r>
              <a:rPr lang="en-US" dirty="0"/>
              <a:t>The KDE plots show the density of high-risk pregnancies become dominant at Systolic BP of around 130mmhg and Diastolic BP of about 80mmhg.</a:t>
            </a:r>
          </a:p>
          <a:p>
            <a:pPr marL="0" indent="0">
              <a:buNone/>
            </a:pPr>
            <a:r>
              <a:rPr lang="en-US" dirty="0"/>
              <a:t>Analysis:</a:t>
            </a:r>
          </a:p>
          <a:p>
            <a:pPr marL="0" indent="0">
              <a:buNone/>
            </a:pPr>
            <a:r>
              <a:rPr lang="en-US" dirty="0"/>
              <a:t>To further analyze the observations from the KDE plots,  these were grouped and we can see high-risk pregnancies increase from BP(130/80 </a:t>
            </a:r>
            <a:r>
              <a:rPr lang="en-US" dirty="0" err="1"/>
              <a:t>mmhg</a:t>
            </a:r>
            <a:r>
              <a:rPr lang="en-US" dirty="0"/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12C0B-1A2D-5E18-31F5-829128CDE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" y="1473841"/>
            <a:ext cx="5257800" cy="20586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C18921-B635-7ACC-8322-69E00DEBC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73841"/>
            <a:ext cx="2633472" cy="20820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FC30B1-0795-BC19-95E3-DE7BE7FC08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974" y="1473841"/>
            <a:ext cx="3002964" cy="195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85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4EC2-CC64-744A-28F8-E005F211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Blood Sugar 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B9D5-4951-5656-A6CB-E8552D4BD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83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can be seen, that most high-risk pregnancies are clustered at around blood sugar level 7mmol/L and they became more dominant from there on.</a:t>
            </a:r>
          </a:p>
          <a:p>
            <a:pPr marL="0" indent="0">
              <a:buNone/>
            </a:pPr>
            <a:r>
              <a:rPr lang="en-US" dirty="0"/>
              <a:t>This can also be seen in the grouped chart, that more of the diabetic patients have high-risk pregnancies and it also confirms diabetes as a key factor that contributes to a pregnancy being high-risk.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76586-1746-41E1-93A7-07CFCA714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215" y="856891"/>
            <a:ext cx="3840861" cy="2764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B6441B-7E8D-4757-FAFF-15C9D4A8D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442" y="3830855"/>
            <a:ext cx="3528634" cy="302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9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2ED3-CB5E-7279-DD8A-EE39058CD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Based on Body 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0F222-7C33-7149-DFDC-C8B841A6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419"/>
            <a:ext cx="5639602" cy="456954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Now, body temperature is very important during pregnancy, as a temperature higher than 99.5°F (37.5°C), could indicate an infection. Here, it can be seen that most of our pregnant women have normal body temperatures of around 98°F (36.7°C), with only a few patients having a temperature of 100°F (37.8°C).</a:t>
            </a:r>
          </a:p>
          <a:p>
            <a:pPr marL="0" indent="0">
              <a:buNone/>
            </a:pPr>
            <a:r>
              <a:rPr lang="en-US" dirty="0"/>
              <a:t>Truly, it can be seen that for those, who have higher than normal temperatures, there are more high-risk pregnancies.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1419B-779D-40C8-AC25-E83AC56D0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07" y="1347537"/>
            <a:ext cx="4346786" cy="2425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245858-190A-6681-B9F8-76B546DA5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06" y="3773103"/>
            <a:ext cx="4346786" cy="293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01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5533-1DB1-9DF1-DCEB-C85FF008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BMI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2937F-0DF8-19D8-D10B-D46DD7FC7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918"/>
            <a:ext cx="6159366" cy="46080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An healthy Body Mass Index (BMI) will generally, improve the outcome of a pregnancy. Looking at our data, low-risk pregnancies are generally clustered around the normal range of 18.5 – 24.5.</a:t>
            </a:r>
          </a:p>
          <a:p>
            <a:pPr marL="0" indent="0">
              <a:buNone/>
            </a:pPr>
            <a:r>
              <a:rPr lang="en-US" dirty="0"/>
              <a:t>Now, taking a look at the high-risk pregnancies, we can see a multi-modal distribution, i.e., our high-risk pregnant women are majorly underweight and overweight.</a:t>
            </a:r>
          </a:p>
          <a:p>
            <a:pPr marL="0" indent="0">
              <a:buNone/>
            </a:pPr>
            <a:r>
              <a:rPr lang="en-US" dirty="0"/>
              <a:t>This is also confirmed in the groupings, where high-risk pregnant women are mostly in Underweight, Overweight and Obese classes.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024FE-9839-5925-5003-4C91C772C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064" y="1116531"/>
            <a:ext cx="4206509" cy="2656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6AF719-AE1B-6881-A954-674A756F7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064" y="3855779"/>
            <a:ext cx="4206509" cy="28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92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6EF5-5DCA-38CD-C823-D8A439DC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Heart Rate vs. Pregnancy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CE65E-C633-1CEB-9952-46ADA8CA7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87728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During pregnancy, a resting heart rate not in the range of 60-100 beats per minute (bpm), is usually considered abnormal.</a:t>
            </a:r>
          </a:p>
          <a:p>
            <a:pPr marL="0" indent="0">
              <a:buNone/>
            </a:pPr>
            <a:r>
              <a:rPr lang="en-US" dirty="0"/>
              <a:t>Most of the pregnant women have a normal heart rate, with few having less than 60bpm(Bradycardia).</a:t>
            </a:r>
          </a:p>
          <a:p>
            <a:pPr marL="0" indent="0">
              <a:buNone/>
            </a:pPr>
            <a:r>
              <a:rPr lang="en-US" dirty="0"/>
              <a:t>While it makes sense from the bar chart, that patients with bradycardia have more high risk pregnancies, the curve shows that most high-risk pregnant women have heart rates from 80% onward.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65F20-9618-D636-B44F-B246E6EEA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601" y="1272445"/>
            <a:ext cx="4552348" cy="2514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7B5179-9E1E-9A4C-92E6-6EA0C8BE1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601" y="3787396"/>
            <a:ext cx="4552348" cy="307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56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7BA2-D196-000C-24A2-13C154F5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6" y="365125"/>
            <a:ext cx="11324924" cy="1325563"/>
          </a:xfrm>
        </p:spPr>
        <p:txBody>
          <a:bodyPr/>
          <a:lstStyle/>
          <a:p>
            <a:r>
              <a:rPr lang="en-US" dirty="0"/>
              <a:t>An Interesting Relationship: Age and Blood Sugar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87375-0F0F-E275-DADB-0D75F75B8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2358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While checking for relationships between the variables, one caught my attention, and that the relationship between age and blood sugar levels, especially for high-risk pregnancies. The Pearson's correlation between both variables, also shows a strong correlation (0.79), just for high-risk pregnancies.</a:t>
            </a:r>
          </a:p>
          <a:p>
            <a:pPr marL="0" indent="0">
              <a:buNone/>
            </a:pPr>
            <a:r>
              <a:rPr lang="en-US" dirty="0"/>
              <a:t>This ultimately shows that for high-risk pregnant women, the older they are, their possibility of having a higher blood sugar level is high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36EEA-367B-4354-DB33-8E5AAA151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233" y="1891212"/>
            <a:ext cx="5023585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8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283E-9544-7D2E-ED08-F4DC67C3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00B7E-261C-F2D7-9966-B05E3238C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Several Factors contribute to a pregnancy, being high-risk. They include;</a:t>
            </a:r>
          </a:p>
          <a:p>
            <a:r>
              <a:rPr lang="en-US" dirty="0"/>
              <a:t>Pre-existing diabetes and mental health issues are primary early indicators for an high-risk pregnancy</a:t>
            </a:r>
          </a:p>
          <a:p>
            <a:r>
              <a:rPr lang="en-US" dirty="0"/>
              <a:t>High blood Sugar and Older age, are also very important indicators</a:t>
            </a:r>
          </a:p>
          <a:p>
            <a:r>
              <a:rPr lang="en-US" dirty="0"/>
              <a:t>Other factors contributing to high-risk pregnancies include Elevated Blood Pressure, Abnormal BMI, Elevated blood pressure and certain heart rate patterns</a:t>
            </a:r>
          </a:p>
        </p:txBody>
      </p:sp>
    </p:spTree>
    <p:extLst>
      <p:ext uri="{BB962C8B-B14F-4D97-AF65-F5344CB8AC3E}">
        <p14:creationId xmlns:p14="http://schemas.microsoft.com/office/powerpoint/2010/main" val="2026618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42FF-06B5-1BE8-D275-6EC92EB7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1AD2F-4C31-A300-CAC6-B470179E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Leveraging the data already collected, a system that flags pregnant individuals, presenting with these conditions, early on in their gestation, as high-risk, should be developed.</a:t>
            </a:r>
          </a:p>
          <a:p>
            <a:r>
              <a:rPr lang="en-US" dirty="0"/>
              <a:t>Data collection should be extended, to include other factors such as Parity, Lifestyle factors, medical history, etc., so as to provide more understanding of each </a:t>
            </a:r>
            <a:r>
              <a:rPr lang="en-US"/>
              <a:t>risk profile.</a:t>
            </a:r>
          </a:p>
        </p:txBody>
      </p:sp>
    </p:spTree>
    <p:extLst>
      <p:ext uri="{BB962C8B-B14F-4D97-AF65-F5344CB8AC3E}">
        <p14:creationId xmlns:p14="http://schemas.microsoft.com/office/powerpoint/2010/main" val="169190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1320</Words>
  <Application>Microsoft Office PowerPoint</Application>
  <PresentationFormat>Widescreen</PresentationFormat>
  <Paragraphs>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Analysis of Factors contributing to a High-Risk Pregnancy</vt:lpstr>
      <vt:lpstr>Introduction</vt:lpstr>
      <vt:lpstr>Introduction (Cont.)</vt:lpstr>
      <vt:lpstr>Dataset: Overview and Preprocessing</vt:lpstr>
      <vt:lpstr>Target Variable</vt:lpstr>
      <vt:lpstr>Categorical Analysis</vt:lpstr>
      <vt:lpstr>Univariate Analysis</vt:lpstr>
      <vt:lpstr>Health Conditions vs. Risk Level</vt:lpstr>
      <vt:lpstr>Health Conditions Comparison for High-Risk Pregnancies</vt:lpstr>
      <vt:lpstr>Numerical Analysis</vt:lpstr>
      <vt:lpstr>Age Analysis</vt:lpstr>
      <vt:lpstr>Blood Pressure Analysis</vt:lpstr>
      <vt:lpstr>Blood Sugar Level Analysis</vt:lpstr>
      <vt:lpstr>Analysis Based on Body Temperature</vt:lpstr>
      <vt:lpstr>BMI Analysis</vt:lpstr>
      <vt:lpstr>Heart Rate vs. Pregnancy Risk</vt:lpstr>
      <vt:lpstr>An Interesting Relationship: Age and Blood Sugar</vt:lpstr>
      <vt:lpstr>Conclusion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Factors contributing to a High-Risk Pregnancy</dc:title>
  <dc:creator>Olayemi</dc:creator>
  <cp:lastModifiedBy>Olayemi</cp:lastModifiedBy>
  <cp:revision>6</cp:revision>
  <dcterms:created xsi:type="dcterms:W3CDTF">2025-06-24T08:53:07Z</dcterms:created>
  <dcterms:modified xsi:type="dcterms:W3CDTF">2025-06-26T11:08:42Z</dcterms:modified>
</cp:coreProperties>
</file>